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Figure 1. Five-Layer Architecture of the Proposed Zero-Trust Lakehouse Framework (ZTLF)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914400"/>
            <a:ext cx="8503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1. Trusted Data Ingestion</a:t>
            </a:r>
          </a:p>
          <a:p>
            <a:pPr>
              <a:defRPr sz="1100"/>
            </a:pPr>
            <a:r>
              <a:t>Authenticate sources • Schema validation • Audit logging</a:t>
            </a:r>
          </a:p>
          <a:p>
            <a:pPr>
              <a:defRPr sz="1000"/>
            </a:pPr>
            <a:r>
              <a:t>Azure Data Factory • ADLS Gen2 • Event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1645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74519"/>
            <a:ext cx="8503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2. Intelligent Data Quality</a:t>
            </a:r>
          </a:p>
          <a:p>
            <a:pPr>
              <a:defRPr sz="1100"/>
            </a:pPr>
            <a:r>
              <a:t>Quality rules • Duplicate detection • Business validation</a:t>
            </a:r>
          </a:p>
          <a:p>
            <a:pPr>
              <a:defRPr sz="1000"/>
            </a:pPr>
            <a:r>
              <a:t>Azure Databricks • Delta 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60603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834639"/>
            <a:ext cx="8503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3. Zero-Trust Governance</a:t>
            </a:r>
          </a:p>
          <a:p>
            <a:pPr>
              <a:defRPr sz="1100"/>
            </a:pPr>
            <a:r>
              <a:t>ABAC/RBAC • Masking • Lineage • Audit</a:t>
            </a:r>
          </a:p>
          <a:p>
            <a:pPr>
              <a:defRPr sz="1000"/>
            </a:pPr>
            <a:r>
              <a:t>Unity Catalog • Entra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56615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794759"/>
            <a:ext cx="8503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4. Optimized Distributed Processing</a:t>
            </a:r>
          </a:p>
          <a:p>
            <a:pPr>
              <a:defRPr sz="1100"/>
            </a:pPr>
            <a:r>
              <a:t>Batch/Streaming • Optimization • Transactions</a:t>
            </a:r>
          </a:p>
          <a:p>
            <a:pPr>
              <a:defRPr sz="1000"/>
            </a:pPr>
            <a:r>
              <a:t>Apache Spark •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52627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754879"/>
            <a:ext cx="8503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5. AI-Ready Data Services</a:t>
            </a:r>
          </a:p>
          <a:p>
            <a:pPr>
              <a:defRPr sz="1100"/>
            </a:pPr>
            <a:r>
              <a:t>BI • ML • GenAI • Reporting</a:t>
            </a:r>
          </a:p>
          <a:p>
            <a:pPr>
              <a:defRPr sz="1000"/>
            </a:pPr>
            <a:r>
              <a:t>Power BI • Azure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1828800"/>
            <a:ext cx="137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Enterprise</a:t>
            </a:r>
          </a:p>
          <a:p>
            <a:pPr algn="ctr">
              <a:defRPr sz="1400"/>
            </a:pPr>
            <a:r>
              <a:t>Data Sources</a:t>
            </a:r>
          </a:p>
          <a:p>
            <a:pPr algn="ctr">
              <a:defRPr sz="1400"/>
            </a:pPr>
          </a:p>
          <a:p>
            <a:pPr algn="ctr">
              <a:defRPr sz="1400"/>
            </a:pPr>
            <a:r>
              <a:t>ERP</a:t>
            </a:r>
          </a:p>
          <a:p>
            <a:pPr algn="ctr">
              <a:defRPr sz="1400"/>
            </a:pPr>
            <a:r>
              <a:t>CRM</a:t>
            </a:r>
          </a:p>
          <a:p>
            <a:pPr algn="ctr">
              <a:defRPr sz="1400"/>
            </a:pPr>
            <a:r>
              <a:t>APIs</a:t>
            </a:r>
          </a:p>
          <a:p>
            <a:pPr algn="ctr">
              <a:defRPr sz="1400"/>
            </a:pPr>
            <a:r>
              <a:t>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828800"/>
            <a:ext cx="137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Consumers</a:t>
            </a:r>
          </a:p>
          <a:p>
            <a:pPr algn="ctr">
              <a:defRPr sz="1400"/>
            </a:pPr>
          </a:p>
          <a:p>
            <a:pPr algn="ctr">
              <a:defRPr sz="1400"/>
            </a:pPr>
            <a:r>
              <a:t>BI</a:t>
            </a:r>
          </a:p>
          <a:p>
            <a:pPr algn="ctr">
              <a:defRPr sz="1400"/>
            </a:pPr>
            <a:r>
              <a:t>Analytics</a:t>
            </a:r>
          </a:p>
          <a:p>
            <a:pPr algn="ctr">
              <a:defRPr sz="1400"/>
            </a:pPr>
            <a:r>
              <a:t>ML</a:t>
            </a:r>
          </a:p>
          <a:p>
            <a:pPr algn="ctr">
              <a:defRPr sz="1400"/>
            </a:pPr>
            <a:r>
              <a:t>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